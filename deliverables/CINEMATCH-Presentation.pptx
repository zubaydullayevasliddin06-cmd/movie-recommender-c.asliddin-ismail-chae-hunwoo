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C Engine  ·  Mood-Based Movie &amp; Game Recommender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3429000"/>
            <a:ext cx="576072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611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Programming  ·  Sejong University  ·  2024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41605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41605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74720" y="454456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454456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74720" y="492861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492861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78308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"You've been scrolling for 20 minutes and still can't decide what to watch."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🗂️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Choices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has 15,000+ titles.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has 50,000+ games.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= harder decisions.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292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1292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580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Mood Filter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9580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use viewing history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how you feel tonight.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≠ Present.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8576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8576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👥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6864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Ignored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6864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alone or with friends?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Tired or energetic?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 don't ask.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 — The Solution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03520" cy="685800"/>
          </a:xfrm>
          <a:prstGeom prst="roundRect">
            <a:avLst>
              <a:gd name="adj" fmla="val 10667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556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type:  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011680" y="1755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scary but short to watch with friends tonight"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13360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360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your mood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natural language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5 structured preferences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(genre, time, mood, medium, social)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94048" y="3886200"/>
            <a:ext cx="109728" cy="201168"/>
          </a:xfrm>
          <a:prstGeom prst="rightArrow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1292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64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49580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scores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9580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weighted algorithm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55 curated titles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picks the best match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66888" y="3886200"/>
            <a:ext cx="109728" cy="201168"/>
          </a:xfrm>
          <a:prstGeom prst="rightArrow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8576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7928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7928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16864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16864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personalized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of why that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title fits you now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Features of CINEMATCH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✨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mood → AI + C engine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the perfect title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personalized explanation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6012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0" name="Shape 8"/>
          <p:cNvSpPr/>
          <p:nvPr/>
        </p:nvSpPr>
        <p:spPr>
          <a:xfrm>
            <a:off x="283464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3464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🎬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4436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 Browser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4436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browse hundreds of thousands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real films via TMDB.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Posters, cast, full details.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15468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13892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Browser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3892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browse 800,000+ titles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RAWG game database.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filters, cover art.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34924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0" name="Shape 18"/>
          <p:cNvSpPr/>
          <p:nvPr/>
        </p:nvSpPr>
        <p:spPr>
          <a:xfrm>
            <a:off x="722376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2376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💬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33348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3348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movie → AI generates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analysis, epic moments,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director's vision, discussion Qs.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54380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1832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41832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2804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Accounts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52804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 in, and see all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past AI picks saved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with date &amp; mood.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73836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Each Feature Special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AI Match — Core Feature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recommender that converts your current mood into structured preferences and scores them with compiled C code. Result in under 10 seconds.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Movies  +  🎮 Games Browser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open databases — TMDB and RAWG. Not a static list. Search anything, filter by 8 genres, see posters and cover art.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617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Discussion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AI + TMDB cast data. Get main theme, epic moments, director's vision, and ready-made discussion questions for any movie.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874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History — Automatic Saving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recommendation is silently saved the moment it appears. Reload the page next week — your history is still there.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31089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46520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User Accounts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with a username and password. Passwords are hashed with bcrypt — never stored in plain text. JWT sessions last 7 days.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4617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API Key Security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465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TMDB, RAWG, and OpenRouter keys live in .env files that are gitignored. Never committed. Never exposed in the browser.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— Domain-Driven Design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D2030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6669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C8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rules &amp; data structures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struct, Preferences,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entity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HTTP or AI here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471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2132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7759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6903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4" name="Text 12"/>
          <p:cNvSpPr/>
          <p:nvPr/>
        </p:nvSpPr>
        <p:spPr>
          <a:xfrm>
            <a:off x="357759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— orchestration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moodToPreferences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recommendForMood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explainRecommendation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discussMovie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4934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77595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2366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9" name="Text 17"/>
          <p:cNvSpPr/>
          <p:nvPr/>
        </p:nvSpPr>
        <p:spPr>
          <a:xfrm>
            <a:off x="633222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Outside-world connections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AI client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runner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JSON file storage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0397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201D10"/>
          </a:solidFill>
          <a:ln w="2540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8685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Interfaces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7829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3" name="Text 21"/>
          <p:cNvSpPr/>
          <p:nvPr/>
        </p:nvSpPr>
        <p:spPr>
          <a:xfrm>
            <a:off x="908685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 for users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HTTP API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endpoints)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frontend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06440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833872"/>
            <a:ext cx="10332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C Engine (cinematch.exe) — compiled binary called by Infrastructure layer via child_process.spawn()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 — Data Structure &amp; Scoring Algorithm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4983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titles.h — the Title data structure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*type;    /* "Movie" or "Game"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*title;   /* display name 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        year;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*genre;   /* action/cozy/scifi…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*mood;    /* intense/relaxed/deep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*timeNeed;/* short/medium/long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*social;  /* solo/group/any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*rating;  /* e.g. "8.6"   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*desc;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Title;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 Title library[55];  /* all 55 titles */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427939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2" name="Shape 10"/>
          <p:cNvSpPr/>
          <p:nvPr/>
        </p:nvSpPr>
        <p:spPr>
          <a:xfrm>
            <a:off x="987552" y="427939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856" y="427939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5262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Scoring weights in recommend.c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PTS_GENRE      6  /* strongest signal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PTS_MEDIUM     5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PTS_MOOD       4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PTS_TIME_EXACT 3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PTS_TIME_ADJ   1  /* neighbouring length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PTS_SOCIAL     2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rating / 10.0 added as tiebreaker */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92240" y="18288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Rules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233172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23317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46920" y="233172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8072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match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32520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46920" y="280720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preference signal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92240" y="2807208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28269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match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32520" y="32826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46920" y="32826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vs Game is binary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3282696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3758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match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732520" y="375818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46920" y="375818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tone matters most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92240" y="3758184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233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exact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732520" y="423367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646920" y="423367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Short/medium/long fit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92240" y="4233672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47091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adjacent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32520" y="47091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646920" y="470916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enough still counts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492240" y="4709160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518464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match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32520" y="51846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646920" y="51846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vs group is clear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92240" y="5184648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4" name="Text 42"/>
          <p:cNvSpPr/>
          <p:nvPr/>
        </p:nvSpPr>
        <p:spPr>
          <a:xfrm>
            <a:off x="6492240" y="566013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÷ 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32520" y="56601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tiebreaker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646920" y="56601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8.6 → adds +0.86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492240" y="5660136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 — Engine Mode &amp; Node.js Integration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86400" cy="2606040"/>
          </a:xfrm>
          <a:prstGeom prst="roundRect">
            <a:avLst>
              <a:gd name="adj" fmla="val 2105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main.c — two modes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main(int argc, char **argv)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Engine mode: Node calls with 5 args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(argc == 6)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recommendJson(argv[1], argv[2],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argv[3], argv[4], argv[5]);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   /* prints JSON, exits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Interactive mode: asks 5 questions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... quiz code ...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45994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2" name="Shape 10"/>
          <p:cNvSpPr/>
          <p:nvPr/>
        </p:nvSpPr>
        <p:spPr>
          <a:xfrm>
            <a:off x="987552" y="45994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856" y="45994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846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Output printed to stdout (Node reads this):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{"found":true,"type":"Movie",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"title":"Alien","year":1979,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"genre":"horror","rating":"8.5"}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691640"/>
            <a:ext cx="5257800" cy="2606040"/>
          </a:xfrm>
          <a:prstGeom prst="roundRect">
            <a:avLst>
              <a:gd name="adj" fmla="val 2105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6480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7" name="Shape 15"/>
          <p:cNvSpPr/>
          <p:nvPr/>
        </p:nvSpPr>
        <p:spPr>
          <a:xfrm>
            <a:off x="661111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8" name="Shape 16"/>
          <p:cNvSpPr/>
          <p:nvPr/>
        </p:nvSpPr>
        <p:spPr>
          <a:xfrm>
            <a:off x="675741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21031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infrastructure/cEngine.js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spawnSync } = require('child_process');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callEngine(prefs)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 = spawnSync('./cinematch.exe',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[prefs.medium, prefs.genre,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prefs.timeNeed, prefs.mood,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prefs.social]);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JSON.parse(r.stdout.toString());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92240" y="45720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92240" y="498348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 and JavaScript stay completely independent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JSON is the language-agnostic contract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 runs as a separate process — maximum speed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C binary works in terminal and from the server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Integration — OpenRouter &amp; Fallback Chain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03520" cy="1325880"/>
          </a:xfrm>
          <a:prstGeom prst="roundRect">
            <a:avLst>
              <a:gd name="adj" fmla="val 551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1051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OpenRouter?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23113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API endpoint that gives access to dozens of large language models — the same interface as OpenAI.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free-tier models, so running CINEMATCH costs $0.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21868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Chain  (runs automatically on rate-limit or server error)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74764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1" name="Text 9"/>
          <p:cNvSpPr/>
          <p:nvPr/>
        </p:nvSpPr>
        <p:spPr>
          <a:xfrm>
            <a:off x="174764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Qwen3 235B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model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first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6669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6" name="Shape 14"/>
          <p:cNvSpPr/>
          <p:nvPr/>
        </p:nvSpPr>
        <p:spPr>
          <a:xfrm>
            <a:off x="339471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0227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8" name="Text 16"/>
          <p:cNvSpPr/>
          <p:nvPr/>
        </p:nvSpPr>
        <p:spPr>
          <a:xfrm>
            <a:off x="450227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8615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8615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8615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429 / 5xx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2132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614934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5690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25" name="Text 23"/>
          <p:cNvSpPr/>
          <p:nvPr/>
        </p:nvSpPr>
        <p:spPr>
          <a:xfrm>
            <a:off x="725690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4078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 120B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4078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4078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still fails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77595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397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0A0C12"/>
          </a:solidFill>
          <a:ln w="25400">
            <a:solidFill>
              <a:srgbClr val="6FB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11537" y="3822192"/>
            <a:ext cx="402336" cy="402336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32" name="Text 30"/>
          <p:cNvSpPr/>
          <p:nvPr/>
        </p:nvSpPr>
        <p:spPr>
          <a:xfrm>
            <a:off x="1001153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541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Match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99541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 needed)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99541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result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63640" y="169164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92240" y="18105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fallback chain?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92240" y="21945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AI models have rate limits. During a live demo, any single model might be rate-limited. The chain guarantees a result is always returned — even without any AI.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Pipeline — Mood → Preferences → Explanation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0352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Mood to Preferences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4937760" cy="594360"/>
          </a:xfrm>
          <a:prstGeom prst="roundRect">
            <a:avLst>
              <a:gd name="adj" fmla="val 12308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2377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scary but short to watch with friends tonight"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AI returns JSON: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38328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24128" y="354787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2" name="Shape 10"/>
          <p:cNvSpPr/>
          <p:nvPr/>
        </p:nvSpPr>
        <p:spPr>
          <a:xfrm>
            <a:off x="1170432" y="354787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3" name="Shape 11"/>
          <p:cNvSpPr/>
          <p:nvPr/>
        </p:nvSpPr>
        <p:spPr>
          <a:xfrm>
            <a:off x="1316736" y="354787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79476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"genre":    "horror",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"timeNeed": "short",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"social":   "group",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"mood":     "intense"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5 values become the C engine's input arguments.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system prompt forces JSON-only output.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validated before use — fallback if empty.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Personalized Explanation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 engine picks the best title, AI writes why it fits: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46520" y="2788920"/>
            <a:ext cx="4892040" cy="1280160"/>
          </a:xfrm>
          <a:prstGeom prst="roundRect">
            <a:avLst>
              <a:gd name="adj" fmla="val 5714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0" y="285292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"Alien is the perfect pick for a short, intense group night — its claustrophobic tension builds fast and hits hard, exactly the kind of scary that works best when everyone is watching together."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160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references the user's original mood — never generic.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92240" y="464515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OpenRouter client, same fallback chain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Rich fallback text if AI fails completely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Two separate API calls per recommendation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External APIs — TMDB &amp; RAWG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470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TMDB  —  The Movie Database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image.tmdb.org  ·  Free API  ·  Hundreds of thousands of films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788920"/>
            <a:ext cx="48463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Movies page — search by title, 8 genre filters, poster grid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Movies page — click → cast list, overview, rating, release year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movie search + backdrop images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cast with profile photos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overview sent to AI for analysis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Poster images fetched at w342 resolution from TMDB CDN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8470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RAWG  —  Video Games Database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rawg.io  ·  Free API  ·  800,000+ game titles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92240" y="2788920"/>
            <a:ext cx="47548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search by title across 800K+ titles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9 genre filters (Action, RPG, Strategy…)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cover art grid with developer &amp; rating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click → full description, platforms, tags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 tier: 20,000 requests/month (well within our use)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6263640"/>
            <a:ext cx="10881360" cy="384048"/>
          </a:xfrm>
          <a:prstGeom prst="roundRect">
            <a:avLst>
              <a:gd name="adj" fmla="val 19048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629107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Security:  All API keys stored in .env files  ·  Listed in .gitignore  ·  Never committed to GitHub  ·  Never exposed in the browser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— Express Server &amp; API Endpoints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645920" y="175564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43400" y="175564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8298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24942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6090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224942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/api/recommend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24942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full AI + C engine pipeline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29800" y="224942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74320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15468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645920" y="274320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/api/discuss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43400" y="274320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discussion analysis for a movie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829800" y="27432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23697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648456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645920" y="32369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/api/titles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43400" y="3236976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full 55-title library as JSON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829800" y="32369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7307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142232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1645920" y="373075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/api/auth/register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43400" y="3730752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user account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829800" y="373075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22452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636008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1" name="Text 29"/>
          <p:cNvSpPr/>
          <p:nvPr/>
        </p:nvSpPr>
        <p:spPr>
          <a:xfrm>
            <a:off x="1645920" y="422452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/api/auth/login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343400" y="422452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and receive a JWT token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829800" y="422452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471830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12978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6" name="Text 34"/>
          <p:cNvSpPr/>
          <p:nvPr/>
        </p:nvSpPr>
        <p:spPr>
          <a:xfrm>
            <a:off x="1645920" y="471830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/api/history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343400" y="471830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user's recommendation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29800" y="471830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JWT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212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562356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1" name="Text 39"/>
          <p:cNvSpPr/>
          <p:nvPr/>
        </p:nvSpPr>
        <p:spPr>
          <a:xfrm>
            <a:off x="1645920" y="521208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/api/history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343400" y="521208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recommendation to history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829800" y="52120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JWT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0080" y="5230368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349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DDD Layer: each endpoint is a thin HTTP wrapper  ·  validates input  →  calls Application layer  →  returns JSON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14400" y="568756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business logic lives in the Interface layer.  Business rules stay in Domain &amp; Application.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Authentication — bcrypt + JWT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Flow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4937760" cy="1600200"/>
          </a:xfrm>
          <a:prstGeom prst="roundRect">
            <a:avLst>
              <a:gd name="adj" fmla="val 3429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24128" y="245059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245059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0" name="Shape 8"/>
          <p:cNvSpPr/>
          <p:nvPr/>
        </p:nvSpPr>
        <p:spPr>
          <a:xfrm>
            <a:off x="1316736" y="245059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69748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application/auth.js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hash = await bcrypt.hash(password, 10);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 salt rounds — industry standard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createUser(username, hash);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Plain password is NEVER stored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279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709160"/>
            <a:ext cx="4937760" cy="1325880"/>
          </a:xfrm>
          <a:prstGeom prst="roundRect">
            <a:avLst>
              <a:gd name="adj" fmla="val 4138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24128" y="487375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0432" y="487375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7" name="Shape 15"/>
          <p:cNvSpPr/>
          <p:nvPr/>
        </p:nvSpPr>
        <p:spPr>
          <a:xfrm>
            <a:off x="1316736" y="487375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12064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ok = await bcrypt.compare(password, hash);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(!ok) throw new Error('Wrong credentials');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token = jwt.sign({id,username}, SECRET,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{ expiresIn: '7d' });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18288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Web Token (JWT)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304288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Signed with a secret key on the server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Contains: user ID + username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Expires after 7 days automatically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 stores it in localStorage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Sent as:  Authorization: Bearer &lt;token&gt;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Protected endpoints verify it on every request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416052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279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— server/data/users.json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46520" y="4681728"/>
            <a:ext cx="4892040" cy="1353312"/>
          </a:xfrm>
          <a:prstGeom prst="roundRect">
            <a:avLst>
              <a:gd name="adj" fmla="val 4054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47688" y="4846320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26" name="Shape 24"/>
          <p:cNvSpPr/>
          <p:nvPr/>
        </p:nvSpPr>
        <p:spPr>
          <a:xfrm>
            <a:off x="6793992" y="4846320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27" name="Shape 25"/>
          <p:cNvSpPr/>
          <p:nvPr/>
        </p:nvSpPr>
        <p:spPr>
          <a:xfrm>
            <a:off x="6940296" y="4846320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93208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id, username, passwordHash,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createdAt, history: [ ...50 entries ]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Gitignored — never in GitHub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Data Flow — Request Lifecycle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828800"/>
            <a:ext cx="512064" cy="51206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mood &amp; submits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/api/recommend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text: 'scary short…' 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15768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2" name="Shape 10"/>
          <p:cNvSpPr/>
          <p:nvPr/>
        </p:nvSpPr>
        <p:spPr>
          <a:xfrm>
            <a:off x="2843784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828800"/>
            <a:ext cx="512064" cy="512064"/>
          </a:xfrm>
          <a:prstGeom prst="ellipse">
            <a:avLst/>
          </a:prstGeom>
          <a:solidFill>
            <a:srgbClr val="5BC8AF"/>
          </a:solidFill>
          <a:ln/>
        </p:spPr>
      </p:sp>
      <p:sp>
        <p:nvSpPr>
          <p:cNvPr id="14" name="Text 12"/>
          <p:cNvSpPr/>
          <p:nvPr/>
        </p:nvSpPr>
        <p:spPr>
          <a:xfrm>
            <a:off x="3621024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935224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Mood Parse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18104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2935224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converts mood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structured JSON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{genre:horror, time:short,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social:group, mood:intense}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19472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9" name="Shape 17"/>
          <p:cNvSpPr/>
          <p:nvPr/>
        </p:nvSpPr>
        <p:spPr>
          <a:xfrm>
            <a:off x="5047488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E0707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24728" y="1828800"/>
            <a:ext cx="512064" cy="512064"/>
          </a:xfrm>
          <a:prstGeom prst="ellipse">
            <a:avLst/>
          </a:prstGeom>
          <a:solidFill>
            <a:srgbClr val="E07070"/>
          </a:solidFill>
          <a:ln/>
        </p:spPr>
      </p:sp>
      <p:sp>
        <p:nvSpPr>
          <p:cNvPr id="21" name="Text 19"/>
          <p:cNvSpPr/>
          <p:nvPr/>
        </p:nvSpPr>
        <p:spPr>
          <a:xfrm>
            <a:off x="5824728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138928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21808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4" name="Text 22"/>
          <p:cNvSpPr/>
          <p:nvPr/>
        </p:nvSpPr>
        <p:spPr>
          <a:xfrm>
            <a:off x="5138928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Spawned as child_process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5 args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all 55 titles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JSON via stdout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123176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7251192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28432" y="1828800"/>
            <a:ext cx="512064" cy="512064"/>
          </a:xfrm>
          <a:prstGeom prst="ellipse">
            <a:avLst/>
          </a:prstGeom>
          <a:solidFill>
            <a:srgbClr val="5BC8AF"/>
          </a:solidFill>
          <a:ln/>
        </p:spPr>
      </p:sp>
      <p:sp>
        <p:nvSpPr>
          <p:cNvPr id="28" name="Text 26"/>
          <p:cNvSpPr/>
          <p:nvPr/>
        </p:nvSpPr>
        <p:spPr>
          <a:xfrm>
            <a:off x="8028432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342632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Explain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525512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1" name="Text 29"/>
          <p:cNvSpPr/>
          <p:nvPr/>
        </p:nvSpPr>
        <p:spPr>
          <a:xfrm>
            <a:off x="7342632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title sent to AI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'Alien — perfect for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intense group night…'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(2-sentence explanation)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326880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33" name="Shape 31"/>
          <p:cNvSpPr/>
          <p:nvPr/>
        </p:nvSpPr>
        <p:spPr>
          <a:xfrm>
            <a:off x="9454896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6FB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232136" y="1828800"/>
            <a:ext cx="512064" cy="512064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35" name="Text 33"/>
          <p:cNvSpPr/>
          <p:nvPr/>
        </p:nvSpPr>
        <p:spPr>
          <a:xfrm>
            <a:off x="10232136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546336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29216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8" name="Text 36"/>
          <p:cNvSpPr/>
          <p:nvPr/>
        </p:nvSpPr>
        <p:spPr>
          <a:xfrm>
            <a:off x="9546336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JSON returned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React frontend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card shown + saved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user history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6263640"/>
            <a:ext cx="10881360" cy="365760"/>
          </a:xfrm>
          <a:prstGeom prst="roundRect">
            <a:avLst>
              <a:gd name="adj" fmla="val 200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4400" y="6291072"/>
            <a:ext cx="10332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Typical total round-trip: 6 – 10 seconds on free AI tier   ·   C engine scoring: &lt; 1 ms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Evaluation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Input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794760" y="17190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Genre / Context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30936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89720" y="1719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1828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7627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"relaxing cozy solo night"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Cozy · Relaxed · Solo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217627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Balatro (2024)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89720" y="21762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688336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"scary horror with a group"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94760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Horror · Intense · Group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27432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Alien (1979)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89720" y="27432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25526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01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"epic action game for hours"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94760" y="331012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Long · Solo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33101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Super Mario Odyssey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9720" y="331012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3822192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87705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"thoughtful sci-fi, alone"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794760" y="387705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Sci-Fi · Deep · Solo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387705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Arrival (2016)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89720" y="387705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38912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663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008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Mood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724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'funny but also scary' → genre with higher scoring weight wins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9471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53187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Failure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53187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models fail → keyword fallback → still returns a result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4934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28650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8650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returns HTTP 400 → frontend shows clear error message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90397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04113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Gibberish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04113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still extracts preferences → C engine picks closest match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Current Limitations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59152"/>
            <a:ext cx="47548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 Match recommends only from the 55-title curated library — browse pages use open databases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App runs locally — not yet deployed on a public server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 AI models can be slow or rate-limited during peak hours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 user feedback loop — the system does not learn from ratings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Future Work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377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0" y="27249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history and long-term preferences per account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92240" y="31455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0" y="31455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4930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ratings improve future recommendations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0" y="39136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39136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Library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42611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 engine library from 55 to 500+ titles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4681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46817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5029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on a server — accessible from any device, anywhere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92240" y="54498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54498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0" y="57972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C scoring logic to prevent regressions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0" y="1097280"/>
            <a:ext cx="4572000" cy="4572000"/>
          </a:xfrm>
          <a:prstGeom prst="ellipse">
            <a:avLst/>
          </a:prstGeom>
          <a:solidFill>
            <a:srgbClr val="1A1200"/>
          </a:solidFill>
          <a:ln w="12700">
            <a:solidFill>
              <a:srgbClr val="2A2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920240"/>
            <a:ext cx="10881360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657600" y="3822192"/>
            <a:ext cx="484632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00507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1]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2]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3]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4]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5]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2104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6]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Programming  ·  Sejong University  ·  2024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CINEMATCH — Capstone Presentation</dc:title>
  <dc:subject>PptxGenJS Presentation</dc:subject>
  <dc:creator>CINEMATCH Team</dc:creator>
  <cp:lastModifiedBy>CINEMATCH Team</cp:lastModifiedBy>
  <cp:revision>1</cp:revision>
  <dcterms:created xsi:type="dcterms:W3CDTF">2026-06-16T11:24:37Z</dcterms:created>
  <dcterms:modified xsi:type="dcterms:W3CDTF">2026-06-16T11:24:37Z</dcterms:modified>
</cp:coreProperties>
</file>