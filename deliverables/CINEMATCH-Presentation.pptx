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Points</c:v>
                </c:pt>
              </c:strCache>
            </c:strRef>
          </c:tx>
          <c:spPr>
            <a:solidFill>
              <a:srgbClr val="FFB3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ECECF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B34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B34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92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922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922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Genre</c:v>
                  </c:pt>
                  <c:pt idx="1">
                    <c:v>Medium</c:v>
                  </c:pt>
                  <c:pt idx="2">
                    <c:v>Mood</c:v>
                  </c:pt>
                  <c:pt idx="3">
                    <c:v>Time</c:v>
                  </c:pt>
                  <c:pt idx="4">
                    <c:v>Social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5</c:v>
                </c:pt>
                <c:pt idx="2">
                  <c:v>4</c:v>
                </c:pt>
                <c:pt idx="3">
                  <c:v>3</c:v>
                </c:pt>
                <c:pt idx="4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ECECF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9AA0B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  <c:min val="0"/>
        </c:scaling>
        <c:delete val="0"/>
        <c:axPos val="l"/>
        <c:majorGridlines>
          <c:spPr>
            <a:ln w="6350" cap="flat">
              <a:solidFill>
                <a:srgbClr val="2A2F3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AA0B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D27"/>
        </a:solidFill>
        <a:ln>
          <a:noFill/>
        </a:ln>
        <a:effectLst/>
      </c:spPr>
    </c:plotArea>
    <c:plotVisOnly val="1"/>
    <c:dispBlanksAs val="span"/>
  </c:chart>
  <c:spPr>
    <a:solidFill>
      <a:srgbClr val="1A1D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371600"/>
            <a:ext cx="12161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🎬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0" y="2651760"/>
            <a:ext cx="1216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spc="200" kern="0" dirty="0">
                <a:solidFill>
                  <a:srgbClr val="FFB3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CINEMATCH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0" y="374904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Movie &amp; Game Recommender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420624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mood — get the perfect pick, and the reason why.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4983480"/>
            <a:ext cx="2743200" cy="0"/>
          </a:xfrm>
          <a:prstGeom prst="line">
            <a:avLst/>
          </a:prstGeom>
          <a:noFill/>
          <a:ln w="12700">
            <a:solidFill>
              <a:srgbClr val="2A2F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512064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Capstone  ·  Sejong University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548640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Asliddin Ismail   ·   Chae Hunwoo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C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 much choice, too little time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4937760" cy="4114800"/>
          </a:xfrm>
          <a:prstGeom prst="roundRect">
            <a:avLst>
              <a:gd name="adj" fmla="val 1778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FFB3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i="1" dirty="0">
                <a:solidFill>
                  <a:srgbClr val="ECEC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 often spend </a:t>
            </a:r>
            <a:pPr indent="0" marL="0">
              <a:lnSpc>
                <a:spcPct val="110000"/>
              </a:lnSpc>
              <a:buNone/>
            </a:pPr>
            <a:r>
              <a:rPr lang="en-US" sz="2400" b="1" i="1" dirty="0">
                <a:solidFill>
                  <a:srgbClr val="FFB3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longer choosing</a:t>
            </a:r>
            <a:pPr indent="0" marL="0">
              <a:lnSpc>
                <a:spcPct val="110000"/>
              </a:lnSpc>
              <a:buNone/>
            </a:pPr>
            <a:r>
              <a:rPr lang="en-US" sz="2400" i="1" dirty="0">
                <a:solidFill>
                  <a:srgbClr val="ECEC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 to watch than they spend enjoying a short film.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05840" y="50292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fatigue is real.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783080"/>
            <a:ext cx="5486400" cy="1298448"/>
          </a:xfrm>
          <a:prstGeom prst="roundRect">
            <a:avLst>
              <a:gd name="adj" fmla="val 5634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20756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⏳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040880" y="19842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Endless scrolling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0" y="235000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menus offer hundreds of rows and no clear answer.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3200400"/>
            <a:ext cx="5486400" cy="1298448"/>
          </a:xfrm>
          <a:prstGeom prst="roundRect">
            <a:avLst>
              <a:gd name="adj" fmla="val 5634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34930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🔁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040880" y="34015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engagement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40880" y="376732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maximise watch-time, not a confident decision.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4617720"/>
            <a:ext cx="5486400" cy="1298448"/>
          </a:xfrm>
          <a:prstGeom prst="roundRect">
            <a:avLst>
              <a:gd name="adj" fmla="val 5634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17920" y="49103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🤷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040880" y="48188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reason given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40880" y="518464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rarely explain why a title suits you.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</a:t>
            </a:r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AI-Powered Movie &amp; Game Recommender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C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answer. And the reason why.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881360" cy="2011680"/>
          </a:xfrm>
          <a:prstGeom prst="roundRect">
            <a:avLst>
              <a:gd name="adj" fmla="val 3636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148840"/>
            <a:ext cx="9966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B3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CINEMATCH </a:t>
            </a:r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ECEC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a web app where you describe your mood in plain words — and an </a:t>
            </a:r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5BC8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ECEC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plus a </a:t>
            </a:r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5BC8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engine</a:t>
            </a:r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ECEC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instantly pick the perfect movie or game for tonight, and tell you why.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4206240"/>
            <a:ext cx="3322320" cy="1737360"/>
          </a:xfrm>
          <a:prstGeom prst="roundRect">
            <a:avLst>
              <a:gd name="adj" fmla="val 4211"/>
            </a:avLst>
          </a:prstGeom>
          <a:solidFill>
            <a:srgbClr val="11141D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4206240"/>
            <a:ext cx="82296" cy="1737360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4434840"/>
            <a:ext cx="277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Opinionated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60120" y="4937760"/>
            <a:ext cx="277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confident pick — not 20 rows of thumbnails.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419600" y="4206240"/>
            <a:ext cx="3322320" cy="1737360"/>
          </a:xfrm>
          <a:prstGeom prst="roundRect">
            <a:avLst>
              <a:gd name="adj" fmla="val 4211"/>
            </a:avLst>
          </a:prstGeom>
          <a:solidFill>
            <a:srgbClr val="11141D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19600" y="4206240"/>
            <a:ext cx="82296" cy="1737360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13" name="Text 11"/>
          <p:cNvSpPr/>
          <p:nvPr/>
        </p:nvSpPr>
        <p:spPr>
          <a:xfrm>
            <a:off x="4739640" y="4434840"/>
            <a:ext cx="277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739640" y="4937760"/>
            <a:ext cx="277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warm, plain-language reason you can trust.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199120" y="4206240"/>
            <a:ext cx="3322320" cy="1737360"/>
          </a:xfrm>
          <a:prstGeom prst="roundRect">
            <a:avLst>
              <a:gd name="adj" fmla="val 4211"/>
            </a:avLst>
          </a:prstGeom>
          <a:solidFill>
            <a:srgbClr val="11141D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99120" y="4206240"/>
            <a:ext cx="82296" cy="1737360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17" name="Text 15"/>
          <p:cNvSpPr/>
          <p:nvPr/>
        </p:nvSpPr>
        <p:spPr>
          <a:xfrm>
            <a:off x="8519160" y="4434840"/>
            <a:ext cx="277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519160" y="4937760"/>
            <a:ext cx="277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language, C for deterministic logic.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</a:t>
            </a:r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AI-Powered Movie &amp; Game Recommender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C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five-step pipeline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80160" y="2468880"/>
            <a:ext cx="640080" cy="640080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 a mood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" y="37947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“scary but short, with friends”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42032" y="30175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2880360" y="219456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0440" y="2468880"/>
            <a:ext cx="640080" cy="640080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971800" y="3246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→ preferences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971800" y="37947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· genre · time · mood · social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82312" y="30175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5120640" y="219456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60720" y="2468880"/>
            <a:ext cx="640080" cy="640080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19" name="Text 17"/>
          <p:cNvSpPr/>
          <p:nvPr/>
        </p:nvSpPr>
        <p:spPr>
          <a:xfrm>
            <a:off x="576072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212080" y="3246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engine scores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212080" y="37947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55 titles, picks the best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22592" y="30175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7360920" y="219456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01000" y="2468880"/>
            <a:ext cx="640080" cy="640080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25" name="Text 23"/>
          <p:cNvSpPr/>
          <p:nvPr/>
        </p:nvSpPr>
        <p:spPr>
          <a:xfrm>
            <a:off x="800100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452360" y="3246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452360" y="37947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warm, personal reason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262872" y="30175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9601200" y="219456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241280" y="2468880"/>
            <a:ext cx="640080" cy="640080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31" name="Text 29"/>
          <p:cNvSpPr/>
          <p:nvPr/>
        </p:nvSpPr>
        <p:spPr>
          <a:xfrm>
            <a:off x="1024128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9692640" y="3246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in browser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9692640" y="37947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confident result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C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handles language</a:t>
            </a:r>
            <a:pPr algn="ctr" indent="0" marL="0">
              <a:buNone/>
            </a:pPr>
            <a:r>
              <a:rPr lang="en-US" sz="15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ctr" indent="0" marL="0">
              <a:buNone/>
            </a:pPr>
            <a:r>
              <a:rPr lang="en-US" sz="15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handles deterministic logic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</a:t>
            </a:r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AI-Powered Movie &amp; Game Recommender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C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Domain-Driven Design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the business idea from the plumbing — each layer has one job.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11141D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057400"/>
            <a:ext cx="109728" cy="841248"/>
          </a:xfrm>
          <a:prstGeom prst="rect">
            <a:avLst/>
          </a:prstGeom>
          <a:solidFill>
            <a:srgbClr val="5BC8A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16712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840480" y="2167128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users reach: web pages + HTTP API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412480" y="216712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 + React · Express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990088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11141D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990088"/>
            <a:ext cx="109728" cy="841248"/>
          </a:xfrm>
          <a:prstGeom prst="rect">
            <a:avLst/>
          </a:prstGeom>
          <a:solidFill>
            <a:srgbClr val="5BC8AF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099816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840480" y="3099816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understand → pick → explain → discuss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412480" y="3099816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Node.js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922776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922776"/>
            <a:ext cx="109728" cy="841248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03250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3840480" y="4032504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rules · the scoring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412480" y="4032504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Node.js + C engine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855464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11141D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4855464"/>
            <a:ext cx="109728" cy="841248"/>
          </a:xfrm>
          <a:prstGeom prst="rect">
            <a:avLst/>
          </a:prstGeom>
          <a:solidFill>
            <a:srgbClr val="5BC8AF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496519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3840480" y="4965192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outside world: AI client, engine runner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412480" y="496519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OpenRouter · child process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Node backend runs the compiled C program as a child process, exchanging JSON.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</a:t>
            </a:r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AI-Powered Movie &amp; Game Recommender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C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LLM at three points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322320" cy="3108960"/>
          </a:xfrm>
          <a:prstGeom prst="roundRect">
            <a:avLst>
              <a:gd name="adj" fmla="val 2353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240280"/>
            <a:ext cx="868680" cy="868680"/>
          </a:xfrm>
          <a:prstGeom prst="ellipse">
            <a:avLst/>
          </a:prstGeom>
          <a:solidFill>
            <a:srgbClr val="11141D"/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2402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05840" y="329184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understanding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3794760"/>
            <a:ext cx="259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free text and emits structured preferences as strict JSON — turning vague human language into machine-usable data.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19600" y="1920240"/>
            <a:ext cx="3322320" cy="3108960"/>
          </a:xfrm>
          <a:prstGeom prst="roundRect">
            <a:avLst>
              <a:gd name="adj" fmla="val 2353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85360" y="2240280"/>
            <a:ext cx="868680" cy="868680"/>
          </a:xfrm>
          <a:prstGeom prst="ellipse">
            <a:avLst/>
          </a:prstGeom>
          <a:solidFill>
            <a:srgbClr val="11141D"/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85360" y="22402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💬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785360" y="329184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generation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85360" y="3794760"/>
            <a:ext cx="259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C engine picks a title, the LLM writes a warm two-to-three sentence reason, tailored to what the user said.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99120" y="1920240"/>
            <a:ext cx="3322320" cy="3108960"/>
          </a:xfrm>
          <a:prstGeom prst="roundRect">
            <a:avLst>
              <a:gd name="adj" fmla="val 2353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64880" y="2240280"/>
            <a:ext cx="868680" cy="868680"/>
          </a:xfrm>
          <a:prstGeom prst="ellipse">
            <a:avLst/>
          </a:prstGeom>
          <a:solidFill>
            <a:srgbClr val="11141D"/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64880" y="22402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🎭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564880" y="329184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discussion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64880" y="3794760"/>
            <a:ext cx="259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full analysis of any film: theme, epic moments, director's vision, and discussion questions.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Provider:  </a:t>
            </a:r>
            <a:pPr algn="ctr" indent="0" marL="0">
              <a:buNone/>
            </a:pPr>
            <a:r>
              <a:rPr lang="en-US" sz="1400" b="1" dirty="0">
                <a:solidFill>
                  <a:srgbClr val="5BC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— free open models (Qwen3)</a:t>
            </a:r>
            <a:pPr algn="ctr" indent="0" marL="0">
              <a:buNone/>
            </a:pPr>
            <a:r>
              <a:rPr lang="en-US" sz="14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zero cost for students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</a:t>
            </a:r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AI-Powered Movie &amp; Game Recommender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 ENGINE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C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Transparent, rule-based scoring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title earns points; the highest score wins. The biggest weights reflect what matters most.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103120"/>
          <a:ext cx="65836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498080" y="2103120"/>
            <a:ext cx="4023360" cy="3931920"/>
          </a:xfrm>
          <a:prstGeom prst="roundRect">
            <a:avLst>
              <a:gd name="adj" fmla="val 1860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Mode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772400" y="2834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 program, two modes: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0" y="32461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args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interactive 5-question quiz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0" y="40690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args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prints one line of JSON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772400" y="4983480"/>
            <a:ext cx="3566160" cy="822960"/>
          </a:xfrm>
          <a:prstGeom prst="rect">
            <a:avLst/>
          </a:prstGeom>
          <a:solidFill>
            <a:srgbClr val="11141D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09560" y="50749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C8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cinematch Movie horror short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C8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intense group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</a:t>
            </a:r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AI-Powered Movie &amp; Game Recommender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 · DATA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C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Modeling the library with structs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6858000" cy="4297680"/>
          </a:xfrm>
          <a:prstGeom prst="roundRect">
            <a:avLst>
              <a:gd name="adj" fmla="val 1277"/>
            </a:avLst>
          </a:prstGeom>
          <a:solidFill>
            <a:srgbClr val="0A0C12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947672"/>
            <a:ext cx="91440" cy="91440"/>
          </a:xfrm>
          <a:prstGeom prst="ellipse">
            <a:avLst/>
          </a:prstGeom>
          <a:solidFill>
            <a:srgbClr val="E0696A"/>
          </a:solidFill>
          <a:ln/>
        </p:spPr>
      </p:sp>
      <p:sp>
        <p:nvSpPr>
          <p:cNvPr id="7" name="Shape 5"/>
          <p:cNvSpPr/>
          <p:nvPr/>
        </p:nvSpPr>
        <p:spPr>
          <a:xfrm>
            <a:off x="987552" y="1947672"/>
            <a:ext cx="91440" cy="91440"/>
          </a:xfrm>
          <a:prstGeom prst="ellipse">
            <a:avLst/>
          </a:prstGeom>
          <a:solidFill>
            <a:srgbClr val="E8B14C"/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" y="1947672"/>
            <a:ext cx="91440" cy="91440"/>
          </a:xfrm>
          <a:prstGeom prst="ellipse">
            <a:avLst/>
          </a:prstGeom>
          <a:solidFill>
            <a:srgbClr val="6FB39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194560"/>
            <a:ext cx="63550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FC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{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char *type;   /* Movie or Game */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char *title;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 year;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char *genre;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char *mood;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char *timeNeed;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char *social;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char *rating;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char *desc;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FC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Title;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FB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The fixed library of 55 titles */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FC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 library[] = {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{"Movie","Interstellar",2014,"scifi",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"deep","medium","any","8.7", ... },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FB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... 54 more titles ... */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FC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libSize =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sizeof(library)/sizeof(library[0]);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0" y="1783080"/>
            <a:ext cx="3749040" cy="4297680"/>
          </a:xfrm>
          <a:prstGeom prst="roundRect">
            <a:avLst>
              <a:gd name="adj" fmla="val 1951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4672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techniques here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046720" y="2514600"/>
            <a:ext cx="3246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typedef struct — a custom data type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of structs — the whole library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char * — pointers to strings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sizeof trick — array length, computed at compile time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truth: titles.h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</a:t>
            </a:r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AI-Powered Movie &amp; Game Recommender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 · LOGIC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C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scoring algorithm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6858000" cy="4297680"/>
          </a:xfrm>
          <a:prstGeom prst="roundRect">
            <a:avLst>
              <a:gd name="adj" fmla="val 1277"/>
            </a:avLst>
          </a:prstGeom>
          <a:solidFill>
            <a:srgbClr val="0A0C12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947672"/>
            <a:ext cx="91440" cy="91440"/>
          </a:xfrm>
          <a:prstGeom prst="ellipse">
            <a:avLst/>
          </a:prstGeom>
          <a:solidFill>
            <a:srgbClr val="E0696A"/>
          </a:solidFill>
          <a:ln/>
        </p:spPr>
      </p:sp>
      <p:sp>
        <p:nvSpPr>
          <p:cNvPr id="7" name="Shape 5"/>
          <p:cNvSpPr/>
          <p:nvPr/>
        </p:nvSpPr>
        <p:spPr>
          <a:xfrm>
            <a:off x="987552" y="1947672"/>
            <a:ext cx="91440" cy="91440"/>
          </a:xfrm>
          <a:prstGeom prst="ellipse">
            <a:avLst/>
          </a:prstGeom>
          <a:solidFill>
            <a:srgbClr val="E8B14C"/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" y="1947672"/>
            <a:ext cx="91440" cy="91440"/>
          </a:xfrm>
          <a:prstGeom prst="ellipse">
            <a:avLst/>
          </a:prstGeom>
          <a:solidFill>
            <a:srgbClr val="6FB39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194560"/>
            <a:ext cx="63550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FC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PTS_GENRE   6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FC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PTS_MOOD    4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FB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How well one title fits the answers */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double scoreTitle(const Title *t,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const char *genre,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const char *mood, ...) {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score = 0.0;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(strcmp(t-&gt;genre, genre) == 0)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score += PTS_GENRE;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(strcmp(t-&gt;mood, mood) == 0)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score += PTS_MOOD;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FB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/* rating breaks ties: 8.7 -&gt; +0.87 */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+= atof(t-&gt;rating) / 10.0;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score;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FC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0" y="1783080"/>
            <a:ext cx="3749040" cy="4297680"/>
          </a:xfrm>
          <a:prstGeom prst="roundRect">
            <a:avLst>
              <a:gd name="adj" fmla="val 1951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4672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techniques here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046720" y="2514600"/>
            <a:ext cx="3246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— file-private function (encapsulation)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Title * — pointer to a read-only struct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strcmp() — string compare, &lt;string.h&gt;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atof() — text to double, &lt;stdlib.h&gt;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#define — compile-time constants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</a:t>
            </a:r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AI-Powered Movie &amp; Game Recommender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 · SYSTEMS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C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program, two modes — the C↔JS bridge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6858000" cy="3566160"/>
          </a:xfrm>
          <a:prstGeom prst="roundRect">
            <a:avLst>
              <a:gd name="adj" fmla="val 1538"/>
            </a:avLst>
          </a:prstGeom>
          <a:solidFill>
            <a:srgbClr val="0A0C12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947672"/>
            <a:ext cx="91440" cy="91440"/>
          </a:xfrm>
          <a:prstGeom prst="ellipse">
            <a:avLst/>
          </a:prstGeom>
          <a:solidFill>
            <a:srgbClr val="E0696A"/>
          </a:solidFill>
          <a:ln/>
        </p:spPr>
      </p:sp>
      <p:sp>
        <p:nvSpPr>
          <p:cNvPr id="7" name="Shape 5"/>
          <p:cNvSpPr/>
          <p:nvPr/>
        </p:nvSpPr>
        <p:spPr>
          <a:xfrm>
            <a:off x="987552" y="1947672"/>
            <a:ext cx="91440" cy="91440"/>
          </a:xfrm>
          <a:prstGeom prst="ellipse">
            <a:avLst/>
          </a:prstGeom>
          <a:solidFill>
            <a:srgbClr val="E8B14C"/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" y="1947672"/>
            <a:ext cx="91440" cy="91440"/>
          </a:xfrm>
          <a:prstGeom prst="ellipse">
            <a:avLst/>
          </a:prstGeom>
          <a:solidFill>
            <a:srgbClr val="6FB39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194560"/>
            <a:ext cx="63550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FC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main(int argc, char **argv) {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FB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Engine mode: Node runs the program as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FB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cinematch &lt;medium&gt; &lt;genre&gt; &lt;time&gt;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FB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&lt;mood&gt; &lt;social&gt;  */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(argc == 6) {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recommendJson(argv[1], argv[2],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argv[3], argv[4],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argv[5]);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D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FB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else: ask 5 questions, then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FB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recommend(...) prints to screen */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FC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0" y="1783080"/>
            <a:ext cx="3749040" cy="3566160"/>
          </a:xfrm>
          <a:prstGeom prst="roundRect">
            <a:avLst>
              <a:gd name="adj" fmla="val 2051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4672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techniques here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046720" y="2514600"/>
            <a:ext cx="3246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argc / argv — command-line arguments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compilation — recommend.h interface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putchar / fputs — character output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codes — return 0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553212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11141D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5532120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prints to stdout:  </a:t>
            </a:r>
            <a:pPr indent="0" marL="0">
              <a:buNone/>
            </a:pPr>
            <a:r>
              <a:rPr lang="en-US" sz="1300" dirty="0">
                <a:solidFill>
                  <a:srgbClr val="5BC8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{"found":true,"title":"Get Out", ... }</a:t>
            </a:r>
            <a:pPr indent="0" marL="0">
              <a:buNone/>
            </a:pPr>
            <a:r>
              <a:rPr lang="en-US" sz="13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3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Node.js:  </a:t>
            </a:r>
            <a:pPr indent="0" marL="0">
              <a:buNone/>
            </a:pPr>
            <a:r>
              <a:rPr lang="en-US" sz="1300" dirty="0">
                <a:solidFill>
                  <a:srgbClr val="5BC8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JSON.parse(stdout)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</a:t>
            </a:r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AI-Powered Movie &amp; Game Recommender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C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pages, one app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212080" cy="1874520"/>
          </a:xfrm>
          <a:prstGeom prst="roundRect">
            <a:avLst>
              <a:gd name="adj" fmla="val 3902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331720"/>
            <a:ext cx="960120" cy="960120"/>
          </a:xfrm>
          <a:prstGeom prst="ellipse">
            <a:avLst/>
          </a:prstGeom>
          <a:solidFill>
            <a:srgbClr val="11141D"/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3317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✨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194560" y="2286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3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Match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194560" y="27889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feature. Type a mood, get one explained pick from the curated 55-title library.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1920240"/>
            <a:ext cx="5212080" cy="1874520"/>
          </a:xfrm>
          <a:prstGeom prst="roundRect">
            <a:avLst>
              <a:gd name="adj" fmla="val 3902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9400" y="2331720"/>
            <a:ext cx="960120" cy="960120"/>
          </a:xfrm>
          <a:prstGeom prst="ellipse">
            <a:avLst/>
          </a:prstGeom>
          <a:solidFill>
            <a:srgbClr val="11141D"/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3317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🎬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863840" y="2286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3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Movies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863840" y="27889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thousands of real films from the open TMDB dataset — search, filter, posters, details.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160520"/>
            <a:ext cx="5212080" cy="1874520"/>
          </a:xfrm>
          <a:prstGeom prst="roundRect">
            <a:avLst>
              <a:gd name="adj" fmla="val 3902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0120" y="4572000"/>
            <a:ext cx="960120" cy="960120"/>
          </a:xfrm>
          <a:prstGeom prst="ellipse">
            <a:avLst/>
          </a:prstGeom>
          <a:solidFill>
            <a:srgbClr val="11141D"/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5720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🎮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2194560" y="4526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3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194560" y="50292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800,000+ titles from the open RAWG dataset — covers, ratings, and detail views.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309360" y="4160520"/>
            <a:ext cx="5212080" cy="1874520"/>
          </a:xfrm>
          <a:prstGeom prst="roundRect">
            <a:avLst>
              <a:gd name="adj" fmla="val 3902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29400" y="4572000"/>
            <a:ext cx="960120" cy="960120"/>
          </a:xfrm>
          <a:prstGeom prst="ellipse">
            <a:avLst/>
          </a:prstGeom>
          <a:solidFill>
            <a:srgbClr val="11141D"/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45720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💬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7863840" y="4526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3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863840" y="50292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any film for AI analysis: cast, theme, epic moments, and discussion questions.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</a:t>
            </a:r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AI-Powered Movie &amp; Game Recommender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C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crash in a live demo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AI models rate-limit and fail. CINEMATCH degrades gracefully at every layer.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11141D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031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63240" y="210312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520440" y="210312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11141D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0440" y="21031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0" y="210312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400800" y="210312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11141D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21031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GPT-OSS-120B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823960" y="210312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281160" y="210312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281160" y="21031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fallback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383280"/>
            <a:ext cx="3322320" cy="2286000"/>
          </a:xfrm>
          <a:prstGeom prst="roundRect">
            <a:avLst>
              <a:gd name="adj" fmla="val 3200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36118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🔁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14400" y="4343400"/>
            <a:ext cx="277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retry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4800600"/>
            <a:ext cx="277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429 or 5xx error, the request retries after a short delay.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419600" y="3383280"/>
            <a:ext cx="3322320" cy="2286000"/>
          </a:xfrm>
          <a:prstGeom prst="roundRect">
            <a:avLst>
              <a:gd name="adj" fmla="val 3200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93920" y="36118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🔑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693920" y="4343400"/>
            <a:ext cx="277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fallback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93920" y="4800600"/>
            <a:ext cx="277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all AI fails, a local matcher still derives sensible preferences.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99120" y="3383280"/>
            <a:ext cx="3322320" cy="2286000"/>
          </a:xfrm>
          <a:prstGeom prst="roundRect">
            <a:avLst>
              <a:gd name="adj" fmla="val 3200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73440" y="36118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8473440" y="4343400"/>
            <a:ext cx="277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fallback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73440" y="4800600"/>
            <a:ext cx="277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AI fields are replaced with rich, well-written defaults.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</a:t>
            </a:r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AI-Powered Movie &amp; Game Recommender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C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Rehearsed and reliable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322320" cy="3291840"/>
          </a:xfrm>
          <a:prstGeom prst="roundRect">
            <a:avLst>
              <a:gd name="adj" fmla="val 2222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377440"/>
            <a:ext cx="268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i="1" dirty="0">
                <a:solidFill>
                  <a:srgbClr val="9AA0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“relaxing cozy solo night”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60120" y="3291840"/>
            <a:ext cx="2682240" cy="0"/>
          </a:xfrm>
          <a:prstGeom prst="line">
            <a:avLst/>
          </a:prstGeom>
          <a:noFill/>
          <a:ln w="12700">
            <a:solidFill>
              <a:srgbClr val="2A2F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474720"/>
            <a:ext cx="332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🎮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22960" y="434340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Balatro (2024)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489204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Cozy · Relaxed · ★ 9.0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19600" y="2103120"/>
            <a:ext cx="3322320" cy="3291840"/>
          </a:xfrm>
          <a:prstGeom prst="roundRect">
            <a:avLst>
              <a:gd name="adj" fmla="val 2222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39640" y="2377440"/>
            <a:ext cx="268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i="1" dirty="0">
                <a:solidFill>
                  <a:srgbClr val="9AA0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“scary horror with a group”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39640" y="3291840"/>
            <a:ext cx="2682240" cy="0"/>
          </a:xfrm>
          <a:prstGeom prst="line">
            <a:avLst/>
          </a:prstGeom>
          <a:noFill/>
          <a:ln w="12700">
            <a:solidFill>
              <a:srgbClr val="2A2F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19600" y="3474720"/>
            <a:ext cx="332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🎬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602480" y="434340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Alien (1979)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02480" y="489204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Horror · Intense · ★ 8.5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99120" y="2103120"/>
            <a:ext cx="3322320" cy="3291840"/>
          </a:xfrm>
          <a:prstGeom prst="roundRect">
            <a:avLst>
              <a:gd name="adj" fmla="val 2222"/>
            </a:avLst>
          </a:prstGeom>
          <a:solidFill>
            <a:srgbClr val="1A1D27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519160" y="2377440"/>
            <a:ext cx="268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i="1" dirty="0">
                <a:solidFill>
                  <a:srgbClr val="9AA0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“epic action game for hours”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519160" y="3291840"/>
            <a:ext cx="2682240" cy="0"/>
          </a:xfrm>
          <a:prstGeom prst="line">
            <a:avLst/>
          </a:prstGeom>
          <a:noFill/>
          <a:ln w="12700">
            <a:solidFill>
              <a:srgbClr val="2A2F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99120" y="3474720"/>
            <a:ext cx="332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🎮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8382000" y="434340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Mario Odyssey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82000" y="489204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· Light · ★ 9.4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mood → same pick, every time. The C engine is deterministic.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</a:t>
            </a:r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AI-Powered Movie &amp; Game Recommender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C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 &amp; open data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446020" cy="1554480"/>
          </a:xfrm>
          <a:prstGeom prst="roundRect">
            <a:avLst>
              <a:gd name="adj" fmla="val 4706"/>
            </a:avLst>
          </a:prstGeom>
          <a:solidFill>
            <a:srgbClr val="11141D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03120"/>
            <a:ext cx="2446020" cy="82296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23160"/>
            <a:ext cx="2080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20802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→ cinematch.exe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451860" y="2103120"/>
            <a:ext cx="2446020" cy="1554480"/>
          </a:xfrm>
          <a:prstGeom prst="roundRect">
            <a:avLst>
              <a:gd name="adj" fmla="val 4706"/>
            </a:avLst>
          </a:prstGeom>
          <a:solidFill>
            <a:srgbClr val="11141D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51860" y="2103120"/>
            <a:ext cx="2446020" cy="82296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11" name="Text 9"/>
          <p:cNvSpPr/>
          <p:nvPr/>
        </p:nvSpPr>
        <p:spPr>
          <a:xfrm>
            <a:off x="3634740" y="2423160"/>
            <a:ext cx="2080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34740" y="2834640"/>
            <a:ext cx="20802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63640" y="2103120"/>
            <a:ext cx="2446020" cy="1554480"/>
          </a:xfrm>
          <a:prstGeom prst="roundRect">
            <a:avLst>
              <a:gd name="adj" fmla="val 4706"/>
            </a:avLst>
          </a:prstGeom>
          <a:solidFill>
            <a:srgbClr val="11141D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2103120"/>
            <a:ext cx="2446020" cy="82296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2423160"/>
            <a:ext cx="2080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46520" y="2834640"/>
            <a:ext cx="20802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React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075420" y="2103120"/>
            <a:ext cx="2446020" cy="1554480"/>
          </a:xfrm>
          <a:prstGeom prst="roundRect">
            <a:avLst>
              <a:gd name="adj" fmla="val 4706"/>
            </a:avLst>
          </a:prstGeom>
          <a:solidFill>
            <a:srgbClr val="11141D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75420" y="2103120"/>
            <a:ext cx="2446020" cy="82296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19" name="Text 17"/>
          <p:cNvSpPr/>
          <p:nvPr/>
        </p:nvSpPr>
        <p:spPr>
          <a:xfrm>
            <a:off x="9258300" y="2423160"/>
            <a:ext cx="2080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58300" y="2834640"/>
            <a:ext cx="20802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4023360"/>
            <a:ext cx="2446020" cy="1554480"/>
          </a:xfrm>
          <a:prstGeom prst="roundRect">
            <a:avLst>
              <a:gd name="adj" fmla="val 4706"/>
            </a:avLst>
          </a:prstGeom>
          <a:solidFill>
            <a:srgbClr val="11141D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4023360"/>
            <a:ext cx="2446020" cy="82296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343400"/>
            <a:ext cx="2080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4754880"/>
            <a:ext cx="20802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(Qwen3)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451860" y="4023360"/>
            <a:ext cx="2446020" cy="1554480"/>
          </a:xfrm>
          <a:prstGeom prst="roundRect">
            <a:avLst>
              <a:gd name="adj" fmla="val 4706"/>
            </a:avLst>
          </a:prstGeom>
          <a:solidFill>
            <a:srgbClr val="11141D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51860" y="4023360"/>
            <a:ext cx="2446020" cy="82296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27" name="Text 25"/>
          <p:cNvSpPr/>
          <p:nvPr/>
        </p:nvSpPr>
        <p:spPr>
          <a:xfrm>
            <a:off x="3634740" y="4343400"/>
            <a:ext cx="2080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34740" y="4754880"/>
            <a:ext cx="20802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TMDB open dataset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63640" y="4023360"/>
            <a:ext cx="2446020" cy="1554480"/>
          </a:xfrm>
          <a:prstGeom prst="roundRect">
            <a:avLst>
              <a:gd name="adj" fmla="val 4706"/>
            </a:avLst>
          </a:prstGeom>
          <a:solidFill>
            <a:srgbClr val="11141D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63640" y="4023360"/>
            <a:ext cx="2446020" cy="82296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4343400"/>
            <a:ext cx="2080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46520" y="4754880"/>
            <a:ext cx="20802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RAWG open dataset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9075420" y="4023360"/>
            <a:ext cx="2446020" cy="1554480"/>
          </a:xfrm>
          <a:prstGeom prst="roundRect">
            <a:avLst>
              <a:gd name="adj" fmla="val 4706"/>
            </a:avLst>
          </a:prstGeom>
          <a:solidFill>
            <a:srgbClr val="11141D"/>
          </a:solidFill>
          <a:ln w="12700">
            <a:solidFill>
              <a:srgbClr val="2A2F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075420" y="4023360"/>
            <a:ext cx="2446020" cy="82296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35" name="Text 33"/>
          <p:cNvSpPr/>
          <p:nvPr/>
        </p:nvSpPr>
        <p:spPr>
          <a:xfrm>
            <a:off x="9258300" y="4343400"/>
            <a:ext cx="2080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58300" y="4754880"/>
            <a:ext cx="20802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CINEMATCH</a:t>
            </a:r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AI-Powered Movie &amp; Game Recommender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554480"/>
            <a:ext cx="1216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🎬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0" y="2743200"/>
            <a:ext cx="1216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B3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 C meets modern AI.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0" y="365760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 idea, executed cleanly — deterministic logic in C, language in an LLM,</a:t>
            </a:r>
            <a:endParaRPr lang="en-US" sz="1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C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wrapped in a polished, well-architected product.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09160" y="4846320"/>
            <a:ext cx="2743200" cy="0"/>
          </a:xfrm>
          <a:prstGeom prst="line">
            <a:avLst/>
          </a:prstGeom>
          <a:noFill/>
          <a:ln w="12700">
            <a:solidFill>
              <a:srgbClr val="2A2F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502920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CEC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0" y="557784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github.com/zubaydullayevasliddin06-cmd  ·  CINEMATCH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CINEMATCH — Capstone Presentation</dc:title>
  <dc:subject>PptxGenJS Presentation</dc:subject>
  <dc:creator>CINEMATCH Team</dc:creator>
  <cp:lastModifiedBy>CINEMATCH Team</cp:lastModifiedBy>
  <cp:revision>1</cp:revision>
  <dcterms:created xsi:type="dcterms:W3CDTF">2026-06-14T10:07:51Z</dcterms:created>
  <dcterms:modified xsi:type="dcterms:W3CDTF">2026-06-14T10:07:51Z</dcterms:modified>
</cp:coreProperties>
</file>