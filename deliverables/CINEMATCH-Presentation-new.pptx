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 Engine  ·  Mood-Based Movie &amp; Game Recommender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429000"/>
            <a:ext cx="576072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 Programming  ·  Sejong University  ·  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4160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4507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45079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4855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52360" y="4160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507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45079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855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"You've been scrolling for 20 minutes and still can't decide what to watch."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553968" cy="2606040"/>
          </a:xfrm>
          <a:prstGeom prst="roundRect">
            <a:avLst>
              <a:gd name="adj" fmla="val 280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91840"/>
            <a:ext cx="3553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Choices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has 15,000+ titles.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has 50,000+ games.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options = harder decisions.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920" y="3108960"/>
            <a:ext cx="3553968" cy="2606040"/>
          </a:xfrm>
          <a:prstGeom prst="roundRect">
            <a:avLst>
              <a:gd name="adj" fmla="val 280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12920" y="3291840"/>
            <a:ext cx="3553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95800" y="38404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Mood Filter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5800" y="429768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use viewing history —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how you feel tonight.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≠ Present.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85760" y="3108960"/>
            <a:ext cx="3553968" cy="2606040"/>
          </a:xfrm>
          <a:prstGeom prst="roundRect">
            <a:avLst>
              <a:gd name="adj" fmla="val 280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85760" y="3291840"/>
            <a:ext cx="3553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68640" y="3840480"/>
            <a:ext cx="326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Ignored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68640" y="4297680"/>
            <a:ext cx="326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alone or with friends?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or energetic?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don't ask.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 — The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556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type: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755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scary but short to watch with friends tonight"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535680" cy="3063240"/>
          </a:xfrm>
          <a:prstGeom prst="roundRect">
            <a:avLst>
              <a:gd name="adj" fmla="val 238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33600" y="2743200"/>
            <a:ext cx="548640" cy="5486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36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your mood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316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natural language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5 structured preferences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(genre, time, mood, medium, social)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94048" y="3886200"/>
            <a:ext cx="109728" cy="201168"/>
          </a:xfrm>
          <a:prstGeom prst="rightArrow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2920" y="2606040"/>
            <a:ext cx="3535680" cy="3063240"/>
          </a:xfrm>
          <a:prstGeom prst="roundRect">
            <a:avLst>
              <a:gd name="adj" fmla="val 238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2743200"/>
            <a:ext cx="548640" cy="5486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95800" y="342900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engine scores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5800" y="3977640"/>
            <a:ext cx="316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weighted algorithm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55 curated titles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picks the best match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6888" y="3886200"/>
            <a:ext cx="109728" cy="201168"/>
          </a:xfrm>
          <a:prstGeom prst="rightArrow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85760" y="2606040"/>
            <a:ext cx="3535680" cy="3063240"/>
          </a:xfrm>
          <a:prstGeom prst="roundRect">
            <a:avLst>
              <a:gd name="adj" fmla="val 238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79280" y="2743200"/>
            <a:ext cx="548640" cy="5486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792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68640" y="342900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68640" y="3977640"/>
            <a:ext cx="316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personalized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why that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title fits you now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Features of CINEMATCH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127248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mood → AI + C engine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perfect title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personalized explanation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5440680"/>
            <a:ext cx="146304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69164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44368" y="26060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Browser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44368" y="3127248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 hundreds of thousands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films via TMDB.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cast, full details.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5440680"/>
            <a:ext cx="146304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69164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38928" y="26060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Browser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38928" y="3127248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browse 800,000+ titles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RAWG game database.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filters, cover art.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49240" y="5440680"/>
            <a:ext cx="146304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69164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33488" y="26060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33488" y="3127248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movie → AI generates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analysis, epic moments,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director's vision, discussion Qs.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43800" y="5440680"/>
            <a:ext cx="146304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0" y="1691640"/>
            <a:ext cx="2103120" cy="3977640"/>
          </a:xfrm>
          <a:prstGeom prst="roundRect">
            <a:avLst>
              <a:gd name="adj" fmla="val 34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1832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28048" y="2606040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Accounts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28048" y="3127248"/>
            <a:ext cx="1883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 in, and see all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past AI picks saved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with date &amp; mood.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38360" y="5440680"/>
            <a:ext cx="146304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Each Feature Special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 Match — Core Feature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recommender that converts your current mood into structured preferences and scores them with compiled C code. Result in under 10 seconds.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Movies  +  🎮 Games Browser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 databases — TMDB and RAWG. Not a static list. Search anything, filter by 8 genres, see posters and cover art.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617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+ TMDB cast data. Get main theme, epic moments, director's vision, and ready-made discussion questions for any movie.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74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History — Automatic Saving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recommendation is silently saved the moment it appears. Reload the page next week — your history is still there.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108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User Accounts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 username and password. Passwords are hashed with bcrypt — never stored in plain text. JWT sessions last 7 days.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617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API Key Security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TMDB, RAWG, and OpenRouter keys live in .env files that are gitignored. Never committed. Never exposed in the browser.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Domain-Driven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17470" cy="3977640"/>
          </a:xfrm>
          <a:prstGeom prst="roundRect">
            <a:avLst>
              <a:gd name="adj" fmla="val 2795"/>
            </a:avLst>
          </a:prstGeom>
          <a:solidFill>
            <a:srgbClr val="1D2030"/>
          </a:solidFill>
          <a:ln w="25400">
            <a:solidFill>
              <a:srgbClr val="5BC8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66694" y="3429000"/>
            <a:ext cx="118872" cy="201168"/>
          </a:xfrm>
          <a:prstGeom prst="rightArrow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C8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2068830" cy="36576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225171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rules &amp; data structures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struct, Preferences,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entity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 or AI 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4710" y="1691640"/>
            <a:ext cx="2617470" cy="3977640"/>
          </a:xfrm>
          <a:prstGeom prst="roundRect">
            <a:avLst>
              <a:gd name="adj" fmla="val 2795"/>
            </a:avLst>
          </a:prstGeom>
          <a:solidFill>
            <a:srgbClr val="1A1D27"/>
          </a:solidFill>
          <a:ln w="254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21324" y="3429000"/>
            <a:ext cx="118872" cy="201168"/>
          </a:xfrm>
          <a:prstGeom prst="rightArrow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759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69030" y="2395728"/>
            <a:ext cx="2068830" cy="36576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3577590" y="2514600"/>
            <a:ext cx="225171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orchestration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moodToPreferences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recommendForMood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explainRecommendation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discussMovie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9340" y="1691640"/>
            <a:ext cx="2617470" cy="3977640"/>
          </a:xfrm>
          <a:prstGeom prst="roundRect">
            <a:avLst>
              <a:gd name="adj" fmla="val 2795"/>
            </a:avLst>
          </a:prstGeom>
          <a:solidFill>
            <a:srgbClr val="1A1D27"/>
          </a:solidFill>
          <a:ln w="254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75954" y="3429000"/>
            <a:ext cx="118872" cy="201168"/>
          </a:xfrm>
          <a:prstGeom prst="rightArrow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23660" y="2395728"/>
            <a:ext cx="2068830" cy="36576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332220" y="2514600"/>
            <a:ext cx="225171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Outside-world connections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 client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engine runner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JSON file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03970" y="1691640"/>
            <a:ext cx="2617470" cy="3977640"/>
          </a:xfrm>
          <a:prstGeom prst="roundRect">
            <a:avLst>
              <a:gd name="adj" fmla="val 2795"/>
            </a:avLst>
          </a:prstGeom>
          <a:solidFill>
            <a:srgbClr val="201D10"/>
          </a:solidFill>
          <a:ln w="254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8685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78290" y="2395728"/>
            <a:ext cx="2068830" cy="36576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9086850" y="2514600"/>
            <a:ext cx="225171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 for users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HTTP API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endpoints)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frontend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83387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 Engine (cinematch.exe) — compiled binary called by Infrastructure layer via child_process.spawn()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Engine — Data Structure &amp; Scoring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5623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5623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titles.h — the Title data structure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*type;    /* "Movie" or "Game" 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*title;   /* display name      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    year;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*genre;   /* action/cozy/scifi…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*mood;    /* intense/relaxed/deep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*timeNeed;/* short/medium/long  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*social;  /* solo/group/any     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*rating;  /* e.g. "8.6"         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*desc;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Title;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Title library[55];  /* all 55 titles */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427939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427939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427939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2628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Scoring weights in recommend.c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PTS_GENRE      6  /* strongest signal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PTS_MEDIUM     5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PTS_MOOD       4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PTS_TIME_EXACT 3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PTS_TIME_ADJ   1  /* neighbouring length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PTS_SOCIAL     2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rating / 10.0 added as tiebreaker */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3317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46920" y="2331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8072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46920" y="28072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preference signal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2807208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2826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match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32826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46920" y="32826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vs Game is binary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282696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758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match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7581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46920" y="37581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tone matters most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758184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exact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42336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46920" y="42336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Short/medium/long fit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4233672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7091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adjacent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47091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46920" y="4709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enough still counts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4709160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51846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match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32520" y="51846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46920" y="51846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vs group is clear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5184648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6601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÷ 10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5660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46920" y="56601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8.6 → adds +0.86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92240" y="5660136"/>
            <a:ext cx="484632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Engine — Engine Mode &amp; Node.js Integration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5623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5623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85623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main.c — two modes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 **argv)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Engine mode: Node calls with 5 args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(argc == 6)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recommendJson(argv[1], argv[2],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argv[3], argv[4], argv[5]);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 /* prints JSON, exits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Interactive mode: asks 5 questions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quiz code ...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459943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459943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459943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46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Output printed to stdout (Node reads this): */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{"found":true,"type":"Movie",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"title":"Alien","year":1979,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"genre":"horror","rating":"8.5"}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257800" cy="2606040"/>
          </a:xfrm>
          <a:prstGeom prst="roundRect">
            <a:avLst>
              <a:gd name="adj" fmla="val 2105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85623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1112" y="185623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7416" y="185623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infrastructure/cEngine.js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spawnSync } = require('child_process');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callEngine(prefs)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 = spawnSync('./cinematch.exe',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[prefs.medium, prefs.genre,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prefs.timeNeed, prefs.mood,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prefs.social]);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JSON.parse(r.stdout.toString());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434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5720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9834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and JavaScript stay completely independent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JSON is the language-agnostic contract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runs as a separate process — maximum speed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C binary works in terminal and from the server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 — OpenRouter &amp; Fallback Chain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OpenRouter?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311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API endpoint that gives access to dozens of large language models — the same interface as OpenAI.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free-tier models, so running CINEMATCH costs $0.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1868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  (runs automatically on rate-limit or server error)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2617470" cy="2011680"/>
          </a:xfrm>
          <a:prstGeom prst="roundRect">
            <a:avLst>
              <a:gd name="adj" fmla="val 3636"/>
            </a:avLst>
          </a:prstGeom>
          <a:solidFill>
            <a:srgbClr val="1A1D27"/>
          </a:solidFill>
          <a:ln w="254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47647" y="3822192"/>
            <a:ext cx="402336" cy="402336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1" name="Text 9"/>
          <p:cNvSpPr/>
          <p:nvPr/>
        </p:nvSpPr>
        <p:spPr>
          <a:xfrm>
            <a:off x="1747647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Qwen3 235B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2434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321808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first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66694" y="455371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4710" y="3703320"/>
            <a:ext cx="2617470" cy="2011680"/>
          </a:xfrm>
          <a:prstGeom prst="roundRect">
            <a:avLst>
              <a:gd name="adj" fmla="val 3636"/>
            </a:avLst>
          </a:prstGeom>
          <a:solidFill>
            <a:srgbClr val="1A1D27"/>
          </a:solidFill>
          <a:ln w="254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02277" y="3822192"/>
            <a:ext cx="402336" cy="402336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4502277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86150" y="4315968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86150" y="4754880"/>
            <a:ext cx="2434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86150" y="5321808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429 / 5xx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21324" y="455371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49340" y="3703320"/>
            <a:ext cx="2617470" cy="2011680"/>
          </a:xfrm>
          <a:prstGeom prst="roundRect">
            <a:avLst>
              <a:gd name="adj" fmla="val 3636"/>
            </a:avLst>
          </a:prstGeom>
          <a:solidFill>
            <a:srgbClr val="1A1D27"/>
          </a:solidFill>
          <a:ln w="254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56907" y="3822192"/>
            <a:ext cx="402336" cy="402336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7256907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0780" y="4315968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120B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0780" y="4754880"/>
            <a:ext cx="2434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0780" y="5321808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fails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5954" y="455371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30" name="Shape 28"/>
          <p:cNvSpPr/>
          <p:nvPr/>
        </p:nvSpPr>
        <p:spPr>
          <a:xfrm>
            <a:off x="8903970" y="3703320"/>
            <a:ext cx="2617470" cy="2011680"/>
          </a:xfrm>
          <a:prstGeom prst="roundRect">
            <a:avLst>
              <a:gd name="adj" fmla="val 3636"/>
            </a:avLst>
          </a:prstGeom>
          <a:solidFill>
            <a:srgbClr val="0A0C12"/>
          </a:solidFill>
          <a:ln w="25400">
            <a:solidFill>
              <a:srgbClr val="6FB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11537" y="3822192"/>
            <a:ext cx="402336" cy="402336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1537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95410" y="4315968"/>
            <a:ext cx="24345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95410" y="4754880"/>
            <a:ext cx="2434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AI needed)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95410" y="5321808"/>
            <a:ext cx="24345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result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16916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1810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fallback chain?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2194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models have rate limits. During a live demo, any single model might be rate-limited. The chain guarantees a result is always returned — even without any AI.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Pipeline — Mood → Preferences → Explanation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Mood to Preferences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scary but short to watch with friends tonight"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AI returns JSON: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354787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0432" y="354787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3" name="Shape 11"/>
          <p:cNvSpPr/>
          <p:nvPr/>
        </p:nvSpPr>
        <p:spPr>
          <a:xfrm>
            <a:off x="1316736" y="354787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7947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"genre":    "horror",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"timeNeed": "short",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"social":   "group",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"mood":     "intense"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5 values become the C engine's input arguments.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system prompt forces JSON-only output.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validated before use — fallback if empty.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Personalized Explanation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 engine picks the best title, AI writes why it fits: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278892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85292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"Alien is the perfect pick for a short, intense group night — its claustrophobic tension builds fast and hits hard, exactly the kind of scary that works best when everyone is watching together."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references the user's original mood — never generic.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64515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OpenRouter client, same fallback chain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Rich fallback text if AI fails completely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separate API calls per recommendation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APIs — TMDB &amp; RAWG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470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TMDB  —  The Movie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image.tmdb.org  ·  Free API  ·  Hundreds of thousands of films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Movies page — search by title, 8 genre filters, poster grid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Movies page — click → cast list, overview, rating, release year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Discussion page — movie search + backdrop images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Discussion page — cast with profile photos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Discussion page — overview sent to AI for analysis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Poster images fetched at w342 resolution from TMDB CDN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470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RAWG  —  Video Games Database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rawg.io  ·  Free API  ·  800,000+ game titles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Games page — search by title across 800K+ titles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Games page — 9 genre filters (Action, RPG, Strategy…)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Games page — cover art grid with developer &amp; rating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Games page — click → full description, platforms, tags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 tier: 20,000 requests/month (well within our use)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626364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62910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Security:  All API keys stored in .env files  ·  Listed in .gitignore  ·  Never committed to GitHub  ·  Never exposed in the browser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Express Server &amp; API Endpoints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920" y="17556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43400" y="175564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298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60904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2494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/api/recommend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2494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AI + C engine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29800" y="22494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7432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/api/discuss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274320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discussion analysis for a movie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29800" y="27432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369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32369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/api/titles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323697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full 55-title library as JSON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32369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7307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142232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37307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400" y="37307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user account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29800" y="37307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2245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636008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42245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42245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receive a JWT token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29800" y="42245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718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129784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47183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/api/history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43400" y="471830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user's recommendation history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29800" y="47183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212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623560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5212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/api/history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43400" y="521208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recommendation to history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29800" y="5212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523036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Layer: each endpoint is a thin HTTP wrapper  ·  validates input  →  calls Application layer  →  returns JSON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14400" y="56875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lives in the Interface layer.  Business rules stay in Domain &amp; Application.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Authentication — bcrypt + JWT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4937760" cy="1600200"/>
          </a:xfrm>
          <a:prstGeom prst="roundRect">
            <a:avLst>
              <a:gd name="adj" fmla="val 3429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245059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245059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974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application/auth.js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 = await bcrypt.hash(password, 10);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salt rounds — industry standard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createUser(username, hash);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Plain password is NEVER stored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2793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24128" y="487375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487375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17" name="Shape 15"/>
          <p:cNvSpPr/>
          <p:nvPr/>
        </p:nvSpPr>
        <p:spPr>
          <a:xfrm>
            <a:off x="1316736" y="487375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ok = await bcrypt.compare(password, hash);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(!ok) throw new Error('Wrong credentials');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jwt.sign({id,username}, SECRET,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{ expiresIn: '7d' });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828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(JWT)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30428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Signed with a secret key on the server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Contains: user ID + username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Expires after 7 days automatically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 stores it in localStorage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 as:  Authorization: Bearer &lt;token&gt;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Protected endpoints verify it on every request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2793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server/data/users.json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681728"/>
            <a:ext cx="4892040" cy="1353312"/>
          </a:xfrm>
          <a:prstGeom prst="roundRect">
            <a:avLst>
              <a:gd name="adj" fmla="val 4054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47688" y="4846320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793992" y="4846320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0296" y="4846320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5093208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id, username, passwordHash,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createdAt, history: [ ...50 entries ]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Gitignored — never in GitHub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Data Flow — Request Lifecycle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066544" cy="4434840"/>
          </a:xfrm>
          <a:prstGeom prst="roundRect">
            <a:avLst>
              <a:gd name="adj" fmla="val 3540"/>
            </a:avLst>
          </a:prstGeom>
          <a:solidFill>
            <a:srgbClr val="1A1D27"/>
          </a:solidFill>
          <a:ln w="254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828800"/>
            <a:ext cx="512064" cy="51206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517904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1883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mood &amp; submits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/api/recommend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text: 'scary short…'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15768" y="382219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12" name="Shape 10"/>
          <p:cNvSpPr/>
          <p:nvPr/>
        </p:nvSpPr>
        <p:spPr>
          <a:xfrm>
            <a:off x="2843784" y="1691640"/>
            <a:ext cx="2066544" cy="4434840"/>
          </a:xfrm>
          <a:prstGeom prst="roundRect">
            <a:avLst>
              <a:gd name="adj" fmla="val 3540"/>
            </a:avLst>
          </a:prstGeom>
          <a:solidFill>
            <a:srgbClr val="1A1D27"/>
          </a:solidFill>
          <a:ln w="25400">
            <a:solidFill>
              <a:srgbClr val="5BC8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1828800"/>
            <a:ext cx="512064" cy="512064"/>
          </a:xfrm>
          <a:prstGeom prst="ellipse">
            <a:avLst/>
          </a:prstGeom>
          <a:solidFill>
            <a:srgbClr val="5BC8AF"/>
          </a:solidFill>
          <a:ln/>
        </p:spPr>
      </p:sp>
      <p:sp>
        <p:nvSpPr>
          <p:cNvPr id="14" name="Text 12"/>
          <p:cNvSpPr/>
          <p:nvPr/>
        </p:nvSpPr>
        <p:spPr>
          <a:xfrm>
            <a:off x="3621024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35224" y="24505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Mood Parse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18104" y="2926080"/>
            <a:ext cx="1517904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2935224" y="3017520"/>
            <a:ext cx="1883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converts mood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structured JSON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{genre:horror, time:short,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social:group, mood:intense}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19472" y="382219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19" name="Shape 17"/>
          <p:cNvSpPr/>
          <p:nvPr/>
        </p:nvSpPr>
        <p:spPr>
          <a:xfrm>
            <a:off x="5047488" y="1691640"/>
            <a:ext cx="2066544" cy="4434840"/>
          </a:xfrm>
          <a:prstGeom prst="roundRect">
            <a:avLst>
              <a:gd name="adj" fmla="val 3540"/>
            </a:avLst>
          </a:prstGeom>
          <a:solidFill>
            <a:srgbClr val="1A1D27"/>
          </a:solidFill>
          <a:ln w="25400">
            <a:solidFill>
              <a:srgbClr val="E07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24728" y="1828800"/>
            <a:ext cx="512064" cy="512064"/>
          </a:xfrm>
          <a:prstGeom prst="ellipse">
            <a:avLst/>
          </a:prstGeom>
          <a:solidFill>
            <a:srgbClr val="E07070"/>
          </a:solidFill>
          <a:ln/>
        </p:spPr>
      </p:sp>
      <p:sp>
        <p:nvSpPr>
          <p:cNvPr id="21" name="Text 19"/>
          <p:cNvSpPr/>
          <p:nvPr/>
        </p:nvSpPr>
        <p:spPr>
          <a:xfrm>
            <a:off x="582472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38928" y="24505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Engine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21808" y="2926080"/>
            <a:ext cx="1517904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3017520"/>
            <a:ext cx="1883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Spawned as child_process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 args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55 titles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via stdout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23176" y="382219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1192" y="1691640"/>
            <a:ext cx="2066544" cy="4434840"/>
          </a:xfrm>
          <a:prstGeom prst="roundRect">
            <a:avLst>
              <a:gd name="adj" fmla="val 3540"/>
            </a:avLst>
          </a:prstGeom>
          <a:solidFill>
            <a:srgbClr val="1A1D27"/>
          </a:solidFill>
          <a:ln w="25400">
            <a:solidFill>
              <a:srgbClr val="5BC8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28432" y="1828800"/>
            <a:ext cx="512064" cy="512064"/>
          </a:xfrm>
          <a:prstGeom prst="ellipse">
            <a:avLst/>
          </a:prstGeom>
          <a:solidFill>
            <a:srgbClr val="5BC8AF"/>
          </a:solidFill>
          <a:ln/>
        </p:spPr>
      </p:sp>
      <p:sp>
        <p:nvSpPr>
          <p:cNvPr id="28" name="Text 26"/>
          <p:cNvSpPr/>
          <p:nvPr/>
        </p:nvSpPr>
        <p:spPr>
          <a:xfrm>
            <a:off x="80284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42632" y="24505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Explain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25512" y="2926080"/>
            <a:ext cx="1517904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3017520"/>
            <a:ext cx="1883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title sent to AI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'Alien — perfect for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intense group night…'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(2-sentence explanation)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26880" y="3822192"/>
            <a:ext cx="118872" cy="201168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33" name="Shape 31"/>
          <p:cNvSpPr/>
          <p:nvPr/>
        </p:nvSpPr>
        <p:spPr>
          <a:xfrm>
            <a:off x="9454896" y="1691640"/>
            <a:ext cx="2066544" cy="4434840"/>
          </a:xfrm>
          <a:prstGeom prst="roundRect">
            <a:avLst>
              <a:gd name="adj" fmla="val 3540"/>
            </a:avLst>
          </a:prstGeom>
          <a:solidFill>
            <a:srgbClr val="1A1D27"/>
          </a:solidFill>
          <a:ln w="25400">
            <a:solidFill>
              <a:srgbClr val="6FB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32136" y="1828800"/>
            <a:ext cx="512064" cy="512064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35" name="Text 33"/>
          <p:cNvSpPr/>
          <p:nvPr/>
        </p:nvSpPr>
        <p:spPr>
          <a:xfrm>
            <a:off x="10232136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546336" y="24505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729216" y="2926080"/>
            <a:ext cx="1517904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8" name="Text 36"/>
          <p:cNvSpPr/>
          <p:nvPr/>
        </p:nvSpPr>
        <p:spPr>
          <a:xfrm>
            <a:off x="9546336" y="3017520"/>
            <a:ext cx="1883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returned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React frontend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 shown + saved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 history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6263640"/>
            <a:ext cx="10881360" cy="365760"/>
          </a:xfrm>
          <a:prstGeom prst="roundRect">
            <a:avLst>
              <a:gd name="adj" fmla="val 20000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6291072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Typical total round-trip: 6 – 10 seconds on free AI tier   ·   C engine scoring: &lt; 1 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Input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9476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Genre / Context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09360" y="1719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89720" y="1719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0881360" cy="1828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762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"relaxing cozy solo night"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21762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· Relaxed · Solo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1762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Balatro (2024)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89720" y="217627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"scary horror with a group"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74320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· Intense · Group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Alien (1979)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9720" y="27432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55264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101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"epic action game for hours"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33101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Long · Solo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3101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Super Mario Odyssey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331012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822192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770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"thoughtful sci-fi, alone"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3877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· Deep · Solo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7705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Arrival (2016)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87705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10881360" cy="9144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120640"/>
            <a:ext cx="261747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239512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Mood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3431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'funny but also scary' → genre with higher scoring weight wins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94710" y="5120640"/>
            <a:ext cx="261747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531870" y="5239512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31870" y="5632704"/>
            <a:ext cx="23431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fail → keyword fallback → still returns a result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49340" y="5120640"/>
            <a:ext cx="261747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86500" y="5239512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6500" y="5632704"/>
            <a:ext cx="23431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HTTP 400 → frontend shows clear error message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03970" y="5120640"/>
            <a:ext cx="261747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041130" y="5239512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Gibberish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41130" y="5632704"/>
            <a:ext cx="23431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still extracts preferences → C engine picks closest match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Match recommends only from the 55-title curated library — browse pages use open databases</a:t>
            </a:r>
            <a:endParaRPr lang="en-US" sz="1300" dirty="0"/>
          </a:p>
          <a:p>
            <a:pPr marL="177800" indent="-177800"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runs locally — not yet deployed on a public server</a:t>
            </a:r>
            <a:endParaRPr lang="en-US" sz="1300" dirty="0"/>
          </a:p>
          <a:p>
            <a:pPr marL="177800" indent="-177800"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 AI models can be slow or rate-limited during peak hours</a:t>
            </a:r>
            <a:endParaRPr lang="en-US" sz="1300" dirty="0"/>
          </a:p>
          <a:p>
            <a:pPr marL="177800" indent="-177800"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user feedback loop — the system does not learn from ratings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history and long-term preferences per account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1455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493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ratings improve future recommendations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3913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Library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 engine library from 55 to 500+ titles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4681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4681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5029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a server — accessible from any device, anywhere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5449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5449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5797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C scoring logic to prevent regressions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1097280"/>
            <a:ext cx="4572000" cy="4572000"/>
          </a:xfrm>
          <a:prstGeom prst="ellipse">
            <a:avLst/>
          </a:prstGeom>
          <a:solidFill>
            <a:srgbClr val="1A1200"/>
          </a:solidFill>
          <a:ln w="12700">
            <a:solidFill>
              <a:srgbClr val="2A2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0" y="3822192"/>
            <a:ext cx="4846320" cy="3657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0050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5257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6]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 Programming  ·  Sejong University  ·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Capstone Presentation</dc:title>
  <dc:subject>PptxGenJS Presentation</dc:subject>
  <dc:creator>CINEMATCH Team</dc:creator>
  <cp:lastModifiedBy>CINEMATCH Team</cp:lastModifiedBy>
  <cp:revision>1</cp:revision>
  <dcterms:created xsi:type="dcterms:W3CDTF">2026-06-16T10:45:18Z</dcterms:created>
  <dcterms:modified xsi:type="dcterms:W3CDTF">2026-06-16T10:45:18Z</dcterms:modified>
</cp:coreProperties>
</file>